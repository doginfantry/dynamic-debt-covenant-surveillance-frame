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768096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Dynamic Debt Covenant
Surveillance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67712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6DCE4"/>
                </a:solidFill>
                <a:latin typeface="Aptos"/>
              </a:rPr>
              <a:t>Private Credit monitoring framework for sponsor-backed middle-market software borrowers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50749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5202936"/>
            <a:ext cx="20391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Illustrative net 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440680"/>
            <a:ext cx="20391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7E74"/>
                </a:solidFill>
                <a:latin typeface="Aptos"/>
              </a:rPr>
              <a:t>3.40x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824728"/>
            <a:ext cx="20391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DDCSE demo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50749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5202936"/>
            <a:ext cx="20391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Remaining covenant cushion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5440680"/>
            <a:ext cx="20391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54708"/>
                </a:solidFill>
                <a:latin typeface="Aptos"/>
              </a:rPr>
              <a:t>0.10x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5824728"/>
            <a:ext cx="20391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DDCSE demo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0749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202936"/>
            <a:ext cx="20391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Cross-default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5440680"/>
            <a:ext cx="20391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7E74"/>
                </a:solidFill>
                <a:latin typeface="Aptos"/>
              </a:rPr>
              <a:t>5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5824728"/>
            <a:ext cx="20391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DDCSE demo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50749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5202936"/>
            <a:ext cx="20391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Passing unit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5440680"/>
            <a:ext cx="20391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7E74"/>
                </a:solidFill>
                <a:latin typeface="Aptos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5824728"/>
            <a:ext cx="20391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DDCSE demo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62272"/>
            <a:ext cx="5029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EB7C4"/>
                </a:solidFill>
                <a:latin typeface="Aptos"/>
              </a:rPr>
              <a:t>IB / Credit Portfolio Monitoring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MARKET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Covenant monitoring is still an operational control problem, not just an analytics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5074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2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Data silos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50008"/>
            <a:ext cx="4526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Loan docs, borrower reporting, portfolio systems, and analyst models rarely reconcile in one controlled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74519"/>
            <a:ext cx="5074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2039112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Manual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50008"/>
            <a:ext cx="4526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Quarter-end certificates often identify stress after the risk has already migrated into the capital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410711"/>
            <a:ext cx="5074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3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Legal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86200"/>
            <a:ext cx="4526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Cross-default language can turn a minor subsidiary breach into a parent-level technical default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410711"/>
            <a:ext cx="5074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575303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Audit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886200"/>
            <a:ext cx="4526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Spreadsheet workflows are hard to evidence, reproduce, and defend under internal audit or model risk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193792"/>
            <a:ext cx="2880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321807"/>
            <a:ext cx="25877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Target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559552"/>
            <a:ext cx="25877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C4C81"/>
                </a:solidFill>
                <a:latin typeface="Aptos"/>
              </a:rPr>
              <a:t>Private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43600"/>
            <a:ext cx="25877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Sponsor-backed SaaS / software borrower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5193792"/>
            <a:ext cx="2880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1" y="5321807"/>
            <a:ext cx="25877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Control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5559552"/>
            <a:ext cx="25877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54708"/>
                </a:solidFill>
                <a:latin typeface="Aptos"/>
              </a:rPr>
              <a:t>Early Warning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1" y="5943600"/>
            <a:ext cx="25877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10% breach proximity escalation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5193792"/>
            <a:ext cx="2880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9" y="5321807"/>
            <a:ext cx="25877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System lens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5559552"/>
            <a:ext cx="25877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7E74"/>
                </a:solidFill>
                <a:latin typeface="Aptos"/>
              </a:rPr>
              <a:t>Graph Cascade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5943600"/>
            <a:ext cx="25877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Parent/subsidiary default traversal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TARGET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The demo is best positioned as a software private-credit borrower surveillance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D"/>
                </a:solidFill>
                <a:latin typeface="Aptos"/>
              </a:rPr>
              <a:t>Illustrative borrower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76272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45F71"/>
                </a:solidFill>
                <a:latin typeface="Aptos"/>
              </a:rPr>
              <a:t>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176272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8202D"/>
                </a:solidFill>
                <a:latin typeface="Aptos"/>
              </a:rPr>
              <a:t>Software /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06624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45F71"/>
                </a:solidFill>
                <a:latin typeface="Aptos"/>
              </a:rPr>
              <a:t>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706624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8202D"/>
                </a:solidFill>
                <a:latin typeface="Aptos"/>
              </a:rPr>
              <a:t>Sponsor-backed middle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36976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45F71"/>
                </a:solidFill>
                <a:latin typeface="Aptos"/>
              </a:rPr>
              <a:t>Facility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236976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8202D"/>
                </a:solidFill>
                <a:latin typeface="Aptos"/>
              </a:rPr>
              <a:t>HoldCo revolver + OpCo term loans + ABL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67327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45F71"/>
                </a:solidFill>
                <a:latin typeface="Aptos"/>
              </a:rPr>
              <a:t>Primary covenants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767327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8202D"/>
                </a:solidFill>
                <a:latin typeface="Aptos"/>
              </a:rPr>
              <a:t>Net leverage, liquidity,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79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45F71"/>
                </a:solidFill>
                <a:latin typeface="Aptos"/>
              </a:rPr>
              <a:t>Monitoring 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297679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8202D"/>
                </a:solidFill>
                <a:latin typeface="Aptos"/>
              </a:rPr>
              <a:t>Quarterly statements + event-driven shock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206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D"/>
                </a:solidFill>
                <a:latin typeface="Aptos"/>
              </a:rPr>
              <a:t>Why SaaS is a clean first vertical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12848"/>
            <a:ext cx="2331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45F71"/>
                </a:solidFill>
                <a:latin typeface="Aptos"/>
              </a:rPr>
              <a:t>Debt-funded ARR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2212848"/>
            <a:ext cx="205740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2212848"/>
            <a:ext cx="1748790" cy="164592"/>
          </a:xfrm>
          <a:prstGeom prst="rect">
            <a:avLst/>
          </a:prstGeom>
          <a:solidFill>
            <a:srgbClr val="237E74"/>
          </a:solidFill>
          <a:ln>
            <a:solidFill>
              <a:srgbClr val="23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219456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8202D"/>
                </a:solidFill>
                <a:latin typeface="Aptos"/>
              </a:rPr>
              <a:t>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71215"/>
            <a:ext cx="2331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45F71"/>
                </a:solidFill>
                <a:latin typeface="Aptos"/>
              </a:rPr>
              <a:t>EBITDA add-back scrutiny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2871215"/>
            <a:ext cx="205740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871215"/>
            <a:ext cx="1543050" cy="164592"/>
          </a:xfrm>
          <a:prstGeom prst="rect">
            <a:avLst/>
          </a:prstGeom>
          <a:solidFill>
            <a:srgbClr val="237E74"/>
          </a:solidFill>
          <a:ln>
            <a:solidFill>
              <a:srgbClr val="23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2852927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8202D"/>
                </a:solidFill>
                <a:latin typeface="Aptos"/>
              </a:rPr>
              <a:t>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9584"/>
            <a:ext cx="2331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45F71"/>
                </a:solidFill>
                <a:latin typeface="Aptos"/>
              </a:rPr>
              <a:t>Liquidity runway relevance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3529584"/>
            <a:ext cx="205740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529584"/>
            <a:ext cx="1399032" cy="164592"/>
          </a:xfrm>
          <a:prstGeom prst="rect">
            <a:avLst/>
          </a:prstGeom>
          <a:solidFill>
            <a:srgbClr val="237E74"/>
          </a:solidFill>
          <a:ln>
            <a:solidFill>
              <a:srgbClr val="23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351129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8202D"/>
                </a:solidFill>
                <a:latin typeface="Aptos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87952"/>
            <a:ext cx="2331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45F71"/>
                </a:solidFill>
                <a:latin typeface="Aptos"/>
              </a:rPr>
              <a:t>Recurring reporting cadence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4187952"/>
            <a:ext cx="205740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4187952"/>
            <a:ext cx="1131570" cy="164592"/>
          </a:xfrm>
          <a:prstGeom prst="rect">
            <a:avLst/>
          </a:prstGeom>
          <a:solidFill>
            <a:srgbClr val="237E74"/>
          </a:solidFill>
          <a:ln>
            <a:solidFill>
              <a:srgbClr val="23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4169664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8202D"/>
                </a:solidFill>
                <a:latin typeface="Aptos"/>
              </a:rPr>
              <a:t>55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486400"/>
            <a:ext cx="31089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614416"/>
            <a:ext cx="28163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Case data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852160"/>
            <a:ext cx="28163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54708"/>
                </a:solidFill>
                <a:latin typeface="Aptos"/>
              </a:rPr>
              <a:t>Synthetic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6236208"/>
            <a:ext cx="28163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Framework demonstration, not borrower advice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96512" y="5486400"/>
            <a:ext cx="31089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5614416"/>
            <a:ext cx="28163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Public proxy option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1104" y="5852160"/>
            <a:ext cx="28163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C4C81"/>
                </a:solidFill>
                <a:latin typeface="Aptos"/>
              </a:rPr>
              <a:t>MSFT / CRM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4" y="6236208"/>
            <a:ext cx="28163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yfinance statement ingestion demo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9792" y="5486400"/>
            <a:ext cx="31089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4383" y="5614416"/>
            <a:ext cx="281635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Private data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4383" y="5852160"/>
            <a:ext cx="28163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37E74"/>
                </a:solidFill>
                <a:latin typeface="Aptos"/>
              </a:rPr>
              <a:t>Borrower pack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6236208"/>
            <a:ext cx="281635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Compliance certificate + lender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DDCSE converts fragmented covenant workflows into a controlled surveillance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2331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320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7E7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176272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02D"/>
                </a:solidFill>
                <a:latin typeface="Aptos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19202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45F71"/>
                </a:solidFill>
                <a:latin typeface="Aptos"/>
              </a:rPr>
              <a:t>Article VI language parsed into structured covenant dictionaries.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2743200"/>
            <a:ext cx="34747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66160" y="2057400"/>
            <a:ext cx="2331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194560"/>
            <a:ext cx="320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7E7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176272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02D"/>
                </a:solidFill>
                <a:latin typeface="Aptos"/>
              </a:rPr>
              <a:t>Safe 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87752"/>
            <a:ext cx="19202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45F71"/>
                </a:solidFill>
                <a:latin typeface="Aptos"/>
              </a:rPr>
              <a:t>Validated rule terms compiled into constrained Python AST functions.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1888" y="2743200"/>
            <a:ext cx="34747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2057400"/>
            <a:ext cx="2331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194560"/>
            <a:ext cx="320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7E7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76272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02D"/>
                </a:solidFill>
                <a:latin typeface="Aptos"/>
              </a:rPr>
              <a:t>Live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87752"/>
            <a:ext cx="19202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45F71"/>
                </a:solidFill>
                <a:latin typeface="Aptos"/>
              </a:rPr>
              <a:t>yfinance quarterly statements normalize debt, cash, and EBITDA.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6528" y="2743200"/>
            <a:ext cx="34747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235440" y="2057400"/>
            <a:ext cx="2331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2194560"/>
            <a:ext cx="320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7E7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76272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02D"/>
                </a:solidFill>
                <a:latin typeface="Aptos"/>
              </a:rPr>
              <a:t>Graph 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87752"/>
            <a:ext cx="19202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45F71"/>
                </a:solidFill>
                <a:latin typeface="Aptos"/>
              </a:rPr>
              <a:t>NetworkX traverses parent/subsidiary cross-default exposure.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70832"/>
            <a:ext cx="2194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02D"/>
                </a:solidFill>
                <a:latin typeface="Aptos"/>
              </a:rPr>
              <a:t>Control philosophy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736592"/>
            <a:ext cx="7589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45F71"/>
                </a:solidFill>
                <a:latin typeface="Aptos"/>
              </a:rPr>
              <a:t>The system never executes raw covenant text. Legal language is normalized into a reviewable rule config, then compiled into a limited AST function with unit-tested financial boundaries.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407408"/>
            <a:ext cx="2331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4535424"/>
            <a:ext cx="20391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Security 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4773168"/>
            <a:ext cx="20391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42318"/>
                </a:solidFill>
                <a:latin typeface="Aptos"/>
              </a:rPr>
              <a:t>No eval()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5157216"/>
            <a:ext cx="20391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AST-driven execution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The engine surfaces the same watchlist conclusion a credit committee needs to see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2926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263347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Net Leverage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63347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202D"/>
                </a:solidFill>
                <a:latin typeface="Aptos"/>
              </a:rPr>
              <a:t>3.40x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633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Threshold: 3.50x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26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56816"/>
            <a:ext cx="263347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Facility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194560"/>
            <a:ext cx="263347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F8F5F"/>
                </a:solidFill>
                <a:latin typeface="Aptos"/>
              </a:rPr>
              <a:t>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578608"/>
            <a:ext cx="2633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Watchlist proximity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1828800"/>
            <a:ext cx="2926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3" y="1956816"/>
            <a:ext cx="263347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Buffer Cushion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3" y="2194560"/>
            <a:ext cx="263347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54708"/>
                </a:solidFill>
                <a:latin typeface="Aptos"/>
              </a:rPr>
              <a:t>0.10x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2578608"/>
            <a:ext cx="2633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Warning band: 0.35x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246120"/>
            <a:ext cx="9784080" cy="566928"/>
          </a:xfrm>
          <a:prstGeom prst="rect">
            <a:avLst/>
          </a:prstGeom>
          <a:solidFill>
            <a:srgbClr val="FFFAEB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19856"/>
            <a:ext cx="795527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93370D"/>
                </a:solidFill>
                <a:latin typeface="Aptos"/>
              </a:rPr>
              <a:t>Warning: buffer cushion is within 10% of the 3.50x covenant threshold.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02D"/>
                </a:solidFill>
                <a:latin typeface="Aptos"/>
              </a:rPr>
              <a:t>Illustrative compliance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00600"/>
            <a:ext cx="15544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5074920"/>
            <a:ext cx="1828800" cy="201168"/>
          </a:xfrm>
          <a:prstGeom prst="rect">
            <a:avLst/>
          </a:prstGeom>
          <a:solidFill>
            <a:srgbClr val="1C4C81"/>
          </a:solidFill>
          <a:ln>
            <a:solidFill>
              <a:srgbClr val="1C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94960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02D"/>
                </a:solidFill>
                <a:latin typeface="Aptos"/>
              </a:rPr>
              <a:t>3.50x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4800600"/>
            <a:ext cx="15544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Current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5074920"/>
            <a:ext cx="1776548" cy="201168"/>
          </a:xfrm>
          <a:prstGeom prst="rect">
            <a:avLst/>
          </a:prstGeom>
          <a:solidFill>
            <a:srgbClr val="B54708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5394960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02D"/>
                </a:solidFill>
                <a:latin typeface="Aptos"/>
              </a:rPr>
              <a:t>3.40x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4800600"/>
            <a:ext cx="15544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Cushion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4688" y="5074920"/>
            <a:ext cx="522514" cy="201168"/>
          </a:xfrm>
          <a:prstGeom prst="rect">
            <a:avLst/>
          </a:prstGeom>
          <a:solidFill>
            <a:srgbClr val="237E74"/>
          </a:solidFill>
          <a:ln>
            <a:solidFill>
              <a:srgbClr val="23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5394960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02D"/>
                </a:solidFill>
                <a:latin typeface="Aptos"/>
              </a:rPr>
              <a:t>0.10x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Institutional value comes from evidence lineage, not just a ratio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1546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29968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4C81"/>
                </a:solidFill>
                <a:latin typeface="Aptos"/>
              </a:rPr>
              <a:t>Source 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2651760" cy="6766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45F71"/>
                </a:solidFill>
                <a:latin typeface="Aptos"/>
              </a:rPr>
              <a:t>Ticker, period, currency, unit scale, yfinance line-item lineage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" y="2743200"/>
            <a:ext cx="338328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26280" y="1828800"/>
            <a:ext cx="31546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029968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4C81"/>
                </a:solidFill>
                <a:latin typeface="Aptos"/>
              </a:rPr>
              <a:t>Rule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487168"/>
            <a:ext cx="2651760" cy="6766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45F71"/>
                </a:solidFill>
                <a:latin typeface="Aptos"/>
              </a:rPr>
              <a:t>Relation, operator, covenant governor, numerical threshold, source clause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99832" y="2743200"/>
            <a:ext cx="338328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0" y="1828800"/>
            <a:ext cx="31546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2029968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4C81"/>
                </a:solidFill>
                <a:latin typeface="Aptos"/>
              </a:rPr>
              <a:t>Decision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487168"/>
            <a:ext cx="2651760" cy="6766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45F71"/>
                </a:solidFill>
                <a:latin typeface="Aptos"/>
              </a:rPr>
              <a:t>Timestamp, normalized inputs, ratio, buffer distance, status, warning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70832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02D"/>
                </a:solidFill>
                <a:latin typeface="Aptos"/>
              </a:rPr>
              <a:t>Sample audit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45152"/>
            <a:ext cx="10241280" cy="10515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74336"/>
            <a:ext cx="97383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scadia Mono"/>
              </a:rPr>
              <a:t>{"ticker":"MSFT", "covenant_type":"Consolidated Net Leverage Ratio", "ratio":3.40, "threshold":3.50, "buffer_distance":0.10, "compliant":true}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CONTAGION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A minor subsidiary breach can become a portfolio-level event through cross-default language.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383280" y="2148840"/>
            <a:ext cx="2103120" cy="77724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0" y="2148840"/>
            <a:ext cx="2103120" cy="77724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3474720"/>
            <a:ext cx="0" cy="86868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0" y="3474720"/>
            <a:ext cx="0" cy="86868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92040" y="1517904"/>
            <a:ext cx="1188720" cy="621792"/>
          </a:xfrm>
          <a:prstGeom prst="ellipse">
            <a:avLst/>
          </a:prstGeom>
          <a:solidFill>
            <a:srgbClr val="B42318"/>
          </a:solidFill>
          <a:ln>
            <a:solidFill>
              <a:srgbClr val="18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HoldCo</a:t>
            </a:r>
          </a:p>
        </p:txBody>
      </p:sp>
      <p:sp>
        <p:nvSpPr>
          <p:cNvPr id="11" name="Oval 10"/>
          <p:cNvSpPr/>
          <p:nvPr/>
        </p:nvSpPr>
        <p:spPr>
          <a:xfrm>
            <a:off x="2788920" y="2843784"/>
            <a:ext cx="1188720" cy="621792"/>
          </a:xfrm>
          <a:prstGeom prst="ellipse">
            <a:avLst/>
          </a:prstGeom>
          <a:solidFill>
            <a:srgbClr val="B42318"/>
          </a:solidFill>
          <a:ln>
            <a:solidFill>
              <a:srgbClr val="18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06324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OpCo_A</a:t>
            </a:r>
          </a:p>
        </p:txBody>
      </p:sp>
      <p:sp>
        <p:nvSpPr>
          <p:cNvPr id="13" name="Oval 12"/>
          <p:cNvSpPr/>
          <p:nvPr/>
        </p:nvSpPr>
        <p:spPr>
          <a:xfrm>
            <a:off x="6995160" y="2843784"/>
            <a:ext cx="1188720" cy="621792"/>
          </a:xfrm>
          <a:prstGeom prst="ellipse">
            <a:avLst/>
          </a:prstGeom>
          <a:solidFill>
            <a:srgbClr val="B42318"/>
          </a:solidFill>
          <a:ln>
            <a:solidFill>
              <a:srgbClr val="18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06324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OpCo_B</a:t>
            </a:r>
          </a:p>
        </p:txBody>
      </p:sp>
      <p:sp>
        <p:nvSpPr>
          <p:cNvPr id="15" name="Oval 14"/>
          <p:cNvSpPr/>
          <p:nvPr/>
        </p:nvSpPr>
        <p:spPr>
          <a:xfrm>
            <a:off x="2788920" y="4261104"/>
            <a:ext cx="1188720" cy="621792"/>
          </a:xfrm>
          <a:prstGeom prst="ellipse">
            <a:avLst/>
          </a:prstGeom>
          <a:solidFill>
            <a:srgbClr val="7A271A"/>
          </a:solidFill>
          <a:ln>
            <a:solidFill>
              <a:srgbClr val="18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48056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MinorSub_1</a:t>
            </a:r>
          </a:p>
        </p:txBody>
      </p:sp>
      <p:sp>
        <p:nvSpPr>
          <p:cNvPr id="17" name="Oval 16"/>
          <p:cNvSpPr/>
          <p:nvPr/>
        </p:nvSpPr>
        <p:spPr>
          <a:xfrm>
            <a:off x="6995160" y="4261104"/>
            <a:ext cx="1188720" cy="621792"/>
          </a:xfrm>
          <a:prstGeom prst="ellipse">
            <a:avLst/>
          </a:prstGeom>
          <a:solidFill>
            <a:srgbClr val="B42318"/>
          </a:solidFill>
          <a:ln>
            <a:solidFill>
              <a:srgbClr val="18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48056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MinorSub_2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00600"/>
            <a:ext cx="2743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42318"/>
                </a:solidFill>
                <a:latin typeface="Aptos"/>
              </a:rPr>
              <a:t>Primary breach: MinorSub_1 ABL Facility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66360"/>
            <a:ext cx="3657600" cy="40233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Recursive traversal flags HoldCo and sister subsidiary debt as technical cross-default exposures.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4754880"/>
            <a:ext cx="2468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4882896"/>
            <a:ext cx="217627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545F71"/>
                </a:solidFill>
                <a:latin typeface="Aptos"/>
              </a:rPr>
              <a:t>Impacted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5120640"/>
            <a:ext cx="217627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42318"/>
                </a:solidFill>
                <a:latin typeface="Aptos"/>
              </a:rPr>
              <a:t>5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5504688"/>
            <a:ext cx="21762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545F71"/>
                </a:solidFill>
                <a:latin typeface="Aptos"/>
              </a:rPr>
              <a:t>Illustrative full hierarchy cascade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310896" cy="32004"/>
          </a:xfrm>
          <a:prstGeom prst="rect">
            <a:avLst/>
          </a:prstGeom>
          <a:solidFill>
            <a:srgbClr val="23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545F71"/>
                </a:solidFill>
                <a:latin typeface="Aptos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202D"/>
                </a:solidFill>
                <a:latin typeface="Aptos"/>
              </a:rPr>
              <a:t>The next release turns the framework into a verticalized SaaS private-credit surveillance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2331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48840"/>
            <a:ext cx="1463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7E74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33472"/>
            <a:ext cx="1874519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Synthetic framework + yfinance public-company demo + audit artifacts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8688" y="2907792"/>
            <a:ext cx="30175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66160" y="1920240"/>
            <a:ext cx="2331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148840"/>
            <a:ext cx="1463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633472"/>
            <a:ext cx="1874519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Borrower reporting pack import, covenant library, data-room document parser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2907792"/>
            <a:ext cx="30175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309360" y="1920240"/>
            <a:ext cx="2331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48840"/>
            <a:ext cx="1463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33472"/>
            <a:ext cx="1874519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Portfolio roll-up dashboards, watchlist workflows, exception approvals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2907792"/>
            <a:ext cx="301752" cy="0"/>
          </a:xfrm>
          <a:prstGeom prst="line">
            <a:avLst/>
          </a:prstGeom>
          <a:ln w="17780">
            <a:solidFill>
              <a:srgbClr val="545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052560" y="1920240"/>
            <a:ext cx="2331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148840"/>
            <a:ext cx="1463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4C81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633472"/>
            <a:ext cx="1874519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45F71"/>
                </a:solidFill>
                <a:latin typeface="Aptos"/>
              </a:rPr>
              <a:t>Lender-grade integrations: loan admin, CRM, data warehouse, document 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02D"/>
                </a:solidFill>
                <a:latin typeface="Aptos"/>
              </a:rPr>
              <a:t>Investor / stakeholder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950976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D"/>
                </a:solidFill>
                <a:latin typeface="Aptos"/>
              </a:rPr>
              <a:t>DDCSE is not a point calculator. It is a control framework for translating covenant language, borrower financials, and capital-structure dependencies into repeatable credit surveillance.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27B8A"/>
                </a:solidFill>
                <a:latin typeface="Aptos"/>
              </a:rPr>
              <a:t>Source: DDCSE prototype; illustrative borrower and covenant data unless otherwise noted.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545F7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